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9144000"/>
  <p:embeddedFontLst>
    <p:embeddedFont>
      <p:font typeface="Merriweather"/>
      <p:regular r:id="rId18"/>
      <p:bold r:id="rId19"/>
      <p:italic r:id="rId20"/>
      <p:boldItalic r:id="rId21"/>
    </p:embeddedFont>
    <p:embeddedFont>
      <p:font typeface="DM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erriweather-italic.fntdata"/><Relationship Id="rId22" Type="http://schemas.openxmlformats.org/officeDocument/2006/relationships/font" Target="fonts/DMSans-regular.fntdata"/><Relationship Id="rId21" Type="http://schemas.openxmlformats.org/officeDocument/2006/relationships/font" Target="fonts/Merriweather-boldItalic.fntdata"/><Relationship Id="rId24" Type="http://schemas.openxmlformats.org/officeDocument/2006/relationships/font" Target="fonts/DMSans-italic.fntdata"/><Relationship Id="rId23" Type="http://schemas.openxmlformats.org/officeDocument/2006/relationships/font" Target="fonts/DMSans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DM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Merriweather-bold.fntdata"/><Relationship Id="rId18" Type="http://schemas.openxmlformats.org/officeDocument/2006/relationships/font" Target="fonts/Merriweather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9" Type="http://schemas.openxmlformats.org/officeDocument/2006/relationships/image" Target="../media/image4.png"/><Relationship Id="rId5" Type="http://schemas.openxmlformats.org/officeDocument/2006/relationships/image" Target="../media/image17.png"/><Relationship Id="rId6" Type="http://schemas.openxmlformats.org/officeDocument/2006/relationships/image" Target="../media/image12.png"/><Relationship Id="rId7" Type="http://schemas.openxmlformats.org/officeDocument/2006/relationships/image" Target="../media/image2.png"/><Relationship Id="rId8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16.png"/><Relationship Id="rId5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23.png"/><Relationship Id="rId9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19.png"/><Relationship Id="rId7" Type="http://schemas.openxmlformats.org/officeDocument/2006/relationships/image" Target="../media/image18.png"/><Relationship Id="rId8" Type="http://schemas.openxmlformats.org/officeDocument/2006/relationships/image" Target="../media/image2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088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2215604"/>
            <a:ext cx="11601450" cy="16457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Revolutionizing Sea Urchin Aquaculture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4051845"/>
            <a:ext cx="11049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An Onshore </a:t>
            </a:r>
            <a:r>
              <a:rPr b="0" i="1" lang="en-US" sz="210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Ulva-Tripneustes gratilla</a:t>
            </a:r>
            <a:r>
              <a:rPr b="0" i="0" lang="en-US" sz="210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 IMTA System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 txBox="1"/>
          <p:nvPr/>
        </p:nvSpPr>
        <p:spPr>
          <a:xfrm>
            <a:off x="1925478" y="2509837"/>
            <a:ext cx="8341042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The Problem &amp; The Solution</a:t>
            </a:r>
            <a:endParaRPr/>
          </a:p>
        </p:txBody>
      </p:sp>
      <p:sp>
        <p:nvSpPr>
          <p:cNvPr id="93" name="Google Shape;93;p14"/>
          <p:cNvSpPr/>
          <p:nvPr/>
        </p:nvSpPr>
        <p:spPr>
          <a:xfrm>
            <a:off x="5619750" y="3700462"/>
            <a:ext cx="952500" cy="4762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2428875" y="4033837"/>
            <a:ext cx="73342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 paradigm shift from linear waste treatment to circular waste valorization.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9" name="Google Shape;9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09850"/>
            <a:ext cx="5286375" cy="2495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609850"/>
            <a:ext cx="5286375" cy="2495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 txBox="1"/>
          <p:nvPr/>
        </p:nvSpPr>
        <p:spPr>
          <a:xfrm>
            <a:off x="849391" y="3000375"/>
            <a:ext cx="4730591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Conventional MRAS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962025" y="3514725"/>
            <a:ext cx="4505325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The conventional Marine Recirculating Aquaculture System (MRAS) is a linear "input-output" model. It is often energy-intensive and produces nutrient-rich effluent (waste).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6612016" y="3000375"/>
            <a:ext cx="4730591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IMTA System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6724650" y="3514725"/>
            <a:ext cx="4505325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The Integrated Multi-Trophic Aquaculture (IMTA) system is a circular "waste valorization" model. It mimics natural ecology to recover resources and create a self-sustaining loop.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A Tale of Two Systems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1" name="Google Shape;11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6"/>
          <p:cNvSpPr txBox="1"/>
          <p:nvPr/>
        </p:nvSpPr>
        <p:spPr>
          <a:xfrm>
            <a:off x="4120753" y="2509837"/>
            <a:ext cx="3950493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Core Benefits</a:t>
            </a:r>
            <a:endParaRPr/>
          </a:p>
        </p:txBody>
      </p:sp>
      <p:sp>
        <p:nvSpPr>
          <p:cNvPr id="113" name="Google Shape;113;p16"/>
          <p:cNvSpPr/>
          <p:nvPr/>
        </p:nvSpPr>
        <p:spPr>
          <a:xfrm>
            <a:off x="5619750" y="3700462"/>
            <a:ext cx="952500" cy="4762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6"/>
          <p:cNvSpPr txBox="1"/>
          <p:nvPr/>
        </p:nvSpPr>
        <p:spPr>
          <a:xfrm>
            <a:off x="4086225" y="4033837"/>
            <a:ext cx="40195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Environmental and Biological Advantages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9" name="Google Shape;11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05025"/>
            <a:ext cx="3429000" cy="3505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2105025"/>
            <a:ext cx="3429000" cy="3505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0" y="2105025"/>
            <a:ext cx="3429000" cy="3505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7"/>
          <p:cNvSpPr txBox="1"/>
          <p:nvPr/>
        </p:nvSpPr>
        <p:spPr>
          <a:xfrm>
            <a:off x="795813" y="3114675"/>
            <a:ext cx="2980372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Efficient Biofiltration</a:t>
            </a:r>
            <a:endParaRPr/>
          </a:p>
        </p:txBody>
      </p:sp>
      <p:sp>
        <p:nvSpPr>
          <p:cNvPr id="124" name="Google Shape;124;p17"/>
          <p:cNvSpPr txBox="1"/>
          <p:nvPr/>
        </p:nvSpPr>
        <p:spPr>
          <a:xfrm>
            <a:off x="866775" y="4114800"/>
            <a:ext cx="283845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Ulva</a:t>
            </a: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acts as a natural biofilter, removing 100% of Total Ammonia Nitrogen (TAN) and protecting coastal environments.</a:t>
            </a:r>
            <a:endParaRPr/>
          </a:p>
        </p:txBody>
      </p:sp>
      <p:sp>
        <p:nvSpPr>
          <p:cNvPr id="125" name="Google Shape;125;p17"/>
          <p:cNvSpPr txBox="1"/>
          <p:nvPr/>
        </p:nvSpPr>
        <p:spPr>
          <a:xfrm>
            <a:off x="4605813" y="3114675"/>
            <a:ext cx="2980372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On-Site Feed Production</a:t>
            </a:r>
            <a:endParaRPr/>
          </a:p>
        </p:txBody>
      </p:sp>
      <p:sp>
        <p:nvSpPr>
          <p:cNvPr id="126" name="Google Shape;126;p17"/>
          <p:cNvSpPr txBox="1"/>
          <p:nvPr/>
        </p:nvSpPr>
        <p:spPr>
          <a:xfrm>
            <a:off x="4676775" y="4114800"/>
            <a:ext cx="283845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It closes the nutrient loop. Urchin waste feeds the </a:t>
            </a:r>
            <a:r>
              <a:rPr b="0" i="1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Ulva</a:t>
            </a: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, which becomes a sustainable, high-protein feed for the urchins.</a:t>
            </a:r>
            <a:endParaRPr/>
          </a:p>
        </p:txBody>
      </p:sp>
      <p:sp>
        <p:nvSpPr>
          <p:cNvPr id="127" name="Google Shape;127;p17"/>
          <p:cNvSpPr txBox="1"/>
          <p:nvPr/>
        </p:nvSpPr>
        <p:spPr>
          <a:xfrm>
            <a:off x="8415813" y="3114675"/>
            <a:ext cx="2980372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Enhanced Urchin Health</a:t>
            </a:r>
            <a:endParaRPr/>
          </a:p>
        </p:txBody>
      </p:sp>
      <p:sp>
        <p:nvSpPr>
          <p:cNvPr id="128" name="Google Shape;128;p17"/>
          <p:cNvSpPr txBox="1"/>
          <p:nvPr/>
        </p:nvSpPr>
        <p:spPr>
          <a:xfrm>
            <a:off x="8486775" y="4114800"/>
            <a:ext cx="283845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Superior water quality reduces stress, avoids ammonia toxicity, and enhances both growth and valuable gonad production.</a:t>
            </a:r>
            <a:endParaRPr/>
          </a:p>
        </p:txBody>
      </p:sp>
      <p:pic>
        <p:nvPicPr>
          <p:cNvPr descr="image.png" id="129" name="Google Shape;129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28825" y="2419350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67400" y="241935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77400" y="241935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A Trifecta of Advantages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7" name="Google Shape;13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190750"/>
            <a:ext cx="528637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8"/>
          <p:cNvSpPr txBox="1"/>
          <p:nvPr/>
        </p:nvSpPr>
        <p:spPr>
          <a:xfrm>
            <a:off x="571500" y="2381250"/>
            <a:ext cx="528637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The IMTA philosophy redefines "waste" as a valuable resource. </a:t>
            </a:r>
            <a:r>
              <a:rPr b="0" i="1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Ulva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cultivated in this nutrient-rich effluent exhibits significantly enhanced protein content, often exceeding 25% dry weight.</a:t>
            </a:r>
            <a:endParaRPr/>
          </a:p>
        </p:txBody>
      </p:sp>
      <p:sp>
        <p:nvSpPr>
          <p:cNvPr id="140" name="Google Shape;140;p18"/>
          <p:cNvSpPr txBox="1"/>
          <p:nvPr/>
        </p:nvSpPr>
        <p:spPr>
          <a:xfrm>
            <a:off x="571500" y="3714750"/>
            <a:ext cx="528637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This process converts "waste" nitrogen directly into a superior, palatable, and cost-effective feed for the cultured urchins.</a:t>
            </a:r>
            <a:endParaRPr/>
          </a:p>
        </p:txBody>
      </p:sp>
      <p:pic>
        <p:nvPicPr>
          <p:cNvPr descr="image.png" id="141" name="Google Shape;141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200275"/>
            <a:ext cx="5267325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8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The "Waste-to-Feed" Loop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7" name="Google Shape;14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>
            <a:off x="571500" y="571500"/>
            <a:ext cx="5550693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The Star Player: </a:t>
            </a:r>
            <a:r>
              <a:rPr b="1" i="1" lang="en-US" sz="30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T. gratilla</a:t>
            </a:r>
            <a:endParaRPr/>
          </a:p>
        </p:txBody>
      </p:sp>
      <p:pic>
        <p:nvPicPr>
          <p:cNvPr descr="image.png" id="149" name="Google Shape;14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9"/>
          <p:cNvSpPr txBox="1"/>
          <p:nvPr/>
        </p:nvSpPr>
        <p:spPr>
          <a:xfrm>
            <a:off x="571500" y="1619250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The IMTA system creates a stable, favorable environment, free from the stress of ammonia toxicity common in other systems.</a:t>
            </a:r>
            <a:endParaRPr/>
          </a:p>
        </p:txBody>
      </p:sp>
      <p:sp>
        <p:nvSpPr>
          <p:cNvPr id="151" name="Google Shape;151;p19"/>
          <p:cNvSpPr txBox="1"/>
          <p:nvPr/>
        </p:nvSpPr>
        <p:spPr>
          <a:xfrm>
            <a:off x="571500" y="2876550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This leads directly to healthier, more resilient urchins with enhanced growth and, most importantly, significant gonad production—the primary marketable product.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6" name="Google Shape;15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0"/>
          <p:cNvSpPr txBox="1"/>
          <p:nvPr/>
        </p:nvSpPr>
        <p:spPr>
          <a:xfrm>
            <a:off x="3305651" y="2509837"/>
            <a:ext cx="5580697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Critical Challenges</a:t>
            </a:r>
            <a:endParaRPr/>
          </a:p>
        </p:txBody>
      </p:sp>
      <p:sp>
        <p:nvSpPr>
          <p:cNvPr id="158" name="Google Shape;158;p20"/>
          <p:cNvSpPr/>
          <p:nvPr/>
        </p:nvSpPr>
        <p:spPr>
          <a:xfrm>
            <a:off x="5619750" y="3700462"/>
            <a:ext cx="952500" cy="4762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0"/>
          <p:cNvSpPr txBox="1"/>
          <p:nvPr/>
        </p:nvSpPr>
        <p:spPr>
          <a:xfrm>
            <a:off x="4548187" y="4033837"/>
            <a:ext cx="30956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And Strategies for Optimization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4" name="Google Shape;16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09850"/>
            <a:ext cx="5286375" cy="2495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609850"/>
            <a:ext cx="5286375" cy="249555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1"/>
          <p:cNvSpPr txBox="1"/>
          <p:nvPr/>
        </p:nvSpPr>
        <p:spPr>
          <a:xfrm>
            <a:off x="849391" y="3000375"/>
            <a:ext cx="4730591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The Bottleneck</a:t>
            </a:r>
            <a:endParaRPr/>
          </a:p>
        </p:txBody>
      </p:sp>
      <p:sp>
        <p:nvSpPr>
          <p:cNvPr id="168" name="Google Shape;168;p21"/>
          <p:cNvSpPr txBox="1"/>
          <p:nvPr/>
        </p:nvSpPr>
        <p:spPr>
          <a:xfrm>
            <a:off x="962025" y="3514725"/>
            <a:ext cx="4505325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 critical limitation: dissolved ammonia (TAN) from the urchins is *insufficient* to grow all the </a:t>
            </a:r>
            <a:r>
              <a:rPr b="0" i="1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Ulva</a:t>
            </a: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biomass needed for a 100% on-site feed loop.</a:t>
            </a:r>
            <a:endParaRPr/>
          </a:p>
        </p:txBody>
      </p:sp>
      <p:sp>
        <p:nvSpPr>
          <p:cNvPr id="169" name="Google Shape;169;p21"/>
          <p:cNvSpPr txBox="1"/>
          <p:nvPr/>
        </p:nvSpPr>
        <p:spPr>
          <a:xfrm>
            <a:off x="6612016" y="3000375"/>
            <a:ext cx="4730591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The Opportunity</a:t>
            </a:r>
            <a:endParaRPr/>
          </a:p>
        </p:txBody>
      </p:sp>
      <p:sp>
        <p:nvSpPr>
          <p:cNvPr id="170" name="Google Shape;170;p21"/>
          <p:cNvSpPr txBox="1"/>
          <p:nvPr/>
        </p:nvSpPr>
        <p:spPr>
          <a:xfrm>
            <a:off x="6724650" y="3514725"/>
            <a:ext cx="4505325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The bulk of nitrogen is locked in particulate waste (sludge). The key is efficient *mineralization* of this sludge into bioavailable forms (ammonia, nitrate) that the </a:t>
            </a:r>
            <a:r>
              <a:rPr b="0" i="1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Ulva</a:t>
            </a: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can consume.</a:t>
            </a:r>
            <a:endParaRPr/>
          </a:p>
        </p:txBody>
      </p:sp>
      <p:sp>
        <p:nvSpPr>
          <p:cNvPr id="171" name="Google Shape;171;p21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The Nitrogen Bottleneck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6" name="Google Shape;17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76475"/>
            <a:ext cx="3429000" cy="3162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2276475"/>
            <a:ext cx="3429000" cy="3162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0" y="2276475"/>
            <a:ext cx="3429000" cy="31623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2"/>
          <p:cNvSpPr txBox="1"/>
          <p:nvPr/>
        </p:nvSpPr>
        <p:spPr>
          <a:xfrm>
            <a:off x="1225867" y="3286125"/>
            <a:ext cx="212026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CO2 Mitigation</a:t>
            </a:r>
            <a:endParaRPr/>
          </a:p>
        </p:txBody>
      </p:sp>
      <p:sp>
        <p:nvSpPr>
          <p:cNvPr id="181" name="Google Shape;181;p22"/>
          <p:cNvSpPr txBox="1"/>
          <p:nvPr/>
        </p:nvSpPr>
        <p:spPr>
          <a:xfrm>
            <a:off x="866775" y="3943350"/>
            <a:ext cx="283845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Ulva's</a:t>
            </a: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photosynthesis actively consumes dissolved CO2, buffering the pH and protecting urchins from acidification.</a:t>
            </a:r>
            <a:endParaRPr/>
          </a:p>
        </p:txBody>
      </p:sp>
      <p:sp>
        <p:nvSpPr>
          <p:cNvPr id="182" name="Google Shape;182;p22"/>
          <p:cNvSpPr txBox="1"/>
          <p:nvPr/>
        </p:nvSpPr>
        <p:spPr>
          <a:xfrm>
            <a:off x="4710826" y="3286125"/>
            <a:ext cx="277034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Smart Management</a:t>
            </a:r>
            <a:endParaRPr/>
          </a:p>
        </p:txBody>
      </p:sp>
      <p:sp>
        <p:nvSpPr>
          <p:cNvPr id="183" name="Google Shape;183;p22"/>
          <p:cNvSpPr txBox="1"/>
          <p:nvPr/>
        </p:nvSpPr>
        <p:spPr>
          <a:xfrm>
            <a:off x="4676775" y="3943350"/>
            <a:ext cx="283845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Operational success relies on key strategies: optimal stocking (20% coverage) and shallow baskets (10cm) for feed access.</a:t>
            </a:r>
            <a:endParaRPr/>
          </a:p>
        </p:txBody>
      </p:sp>
      <p:sp>
        <p:nvSpPr>
          <p:cNvPr id="184" name="Google Shape;184;p22"/>
          <p:cNvSpPr txBox="1"/>
          <p:nvPr/>
        </p:nvSpPr>
        <p:spPr>
          <a:xfrm>
            <a:off x="8580834" y="3286125"/>
            <a:ext cx="2650331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Future Technology</a:t>
            </a:r>
            <a:endParaRPr/>
          </a:p>
        </p:txBody>
      </p:sp>
      <p:sp>
        <p:nvSpPr>
          <p:cNvPr id="185" name="Google Shape;185;p22"/>
          <p:cNvSpPr txBox="1"/>
          <p:nvPr/>
        </p:nvSpPr>
        <p:spPr>
          <a:xfrm>
            <a:off x="8486775" y="3943350"/>
            <a:ext cx="283845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Open-source computer vision is being developed for faster, non-stressful measurement of urchin test diameter and growth.</a:t>
            </a:r>
            <a:endParaRPr/>
          </a:p>
        </p:txBody>
      </p:sp>
      <p:pic>
        <p:nvPicPr>
          <p:cNvPr descr="image.png" id="186" name="Google Shape;186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57400" y="25908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67400" y="25908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77400" y="25908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2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Co-Benefits &amp; Smart Management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4" name="Google Shape;19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3"/>
          <p:cNvSpPr txBox="1"/>
          <p:nvPr/>
        </p:nvSpPr>
        <p:spPr>
          <a:xfrm>
            <a:off x="2057400" y="2243137"/>
            <a:ext cx="8077200" cy="26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The IMTA system is like a self-watering garden. The urchin 'waste' water is directed to the </a:t>
            </a:r>
            <a:r>
              <a:rPr b="0" i="1" lang="en-US" sz="30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Ulva</a:t>
            </a:r>
            <a:r>
              <a:rPr b="0" i="0" lang="en-US" sz="30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(the filter), which grows into nutritious feed that is fed back to the urchins, completing the circle.</a:t>
            </a:r>
            <a:endParaRPr/>
          </a:p>
        </p:txBody>
      </p:sp>
      <p:sp>
        <p:nvSpPr>
          <p:cNvPr id="196" name="Google Shape;196;p23"/>
          <p:cNvSpPr txBox="1"/>
          <p:nvPr/>
        </p:nvSpPr>
        <p:spPr>
          <a:xfrm>
            <a:off x="4352925" y="5195887"/>
            <a:ext cx="34861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— Analogy from Research Summary</a:t>
            </a:r>
            <a:endParaRPr/>
          </a:p>
        </p:txBody>
      </p:sp>
      <p:sp>
        <p:nvSpPr>
          <p:cNvPr id="197" name="Google Shape;197;p23"/>
          <p:cNvSpPr txBox="1"/>
          <p:nvPr/>
        </p:nvSpPr>
        <p:spPr>
          <a:xfrm>
            <a:off x="1581150" y="2528887"/>
            <a:ext cx="476250" cy="1190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"</a:t>
            </a:r>
            <a:endParaRPr/>
          </a:p>
        </p:txBody>
      </p:sp>
      <p:sp>
        <p:nvSpPr>
          <p:cNvPr id="198" name="Google Shape;198;p23"/>
          <p:cNvSpPr txBox="1"/>
          <p:nvPr/>
        </p:nvSpPr>
        <p:spPr>
          <a:xfrm>
            <a:off x="10134600" y="4814887"/>
            <a:ext cx="476250" cy="1190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"</a:t>
            </a:r>
            <a:endParaRPr/>
          </a:p>
        </p:txBody>
      </p:sp>
      <p:sp>
        <p:nvSpPr>
          <p:cNvPr id="199" name="Google Shape;199;p23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The System in a Nutshell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088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4" name="Google Shape;20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4"/>
          <p:cNvSpPr txBox="1"/>
          <p:nvPr/>
        </p:nvSpPr>
        <p:spPr>
          <a:xfrm>
            <a:off x="295275" y="2581275"/>
            <a:ext cx="11601450" cy="962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Thank You</a:t>
            </a:r>
            <a:endParaRPr/>
          </a:p>
        </p:txBody>
      </p:sp>
      <p:sp>
        <p:nvSpPr>
          <p:cNvPr id="206" name="Google Shape;206;p24"/>
          <p:cNvSpPr txBox="1"/>
          <p:nvPr/>
        </p:nvSpPr>
        <p:spPr>
          <a:xfrm>
            <a:off x="571500" y="3752850"/>
            <a:ext cx="11049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